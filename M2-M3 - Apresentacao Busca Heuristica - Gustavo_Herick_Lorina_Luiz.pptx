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embeddedFontLst>
    <p:embeddedFont>
      <p:font typeface="Plus Jakarta Sans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0F6CC3-7518-4725-9EB3-1B94E22CEB52}">
  <a:tblStyle styleId="{BD0F6CC3-7518-4725-9EB3-1B94E22CEB5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5E5076-3810-47DD-B79F-674D7AD40C01}" styleName="Estilo Escuro 1 - Ênfas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5BE263C-DBD7-4A20-BB59-AAB30ACAA65A}" styleName="Estilo Médio 3 - 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6" d="100"/>
          <a:sy n="106" d="100"/>
        </p:scale>
        <p:origin x="75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669BE54-7546-E92D-D46B-80D35890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95268EE8-661E-1635-D55E-786C8DC22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EEF573A-5709-B953-B368-4342CAD351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6368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9" name="Group 94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96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85" name="Google Shape;85;p13"/>
          <p:cNvSpPr txBox="1"/>
          <p:nvPr/>
        </p:nvSpPr>
        <p:spPr>
          <a:xfrm>
            <a:off x="786385" y="841248"/>
            <a:ext cx="5129600" cy="534009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i="0" u="none" strike="noStrike" kern="1200" cap="none">
                <a:solidFill>
                  <a:schemeClr val="bg1"/>
                </a:solidFill>
                <a:latin typeface="+mj-lt"/>
                <a:ea typeface="+mj-ea"/>
                <a:cs typeface="+mj-cs"/>
                <a:sym typeface="Plus Jakarta Sans"/>
              </a:rPr>
              <a:t>Análise de Heurísticas: Busca Local</a:t>
            </a:r>
            <a:br>
              <a:rPr lang="en-US" sz="4800" b="0" i="0" u="none" strike="noStrike" kern="1200" cap="none">
                <a:solidFill>
                  <a:schemeClr val="bg1"/>
                </a:solidFill>
                <a:latin typeface="+mj-lt"/>
                <a:ea typeface="+mj-ea"/>
                <a:cs typeface="+mj-cs"/>
                <a:sym typeface="Calibri"/>
              </a:rPr>
            </a:br>
            <a:r>
              <a:rPr lang="en-US" sz="4800" b="1" i="0" u="none" strike="noStrike" kern="1200" cap="none">
                <a:solidFill>
                  <a:schemeClr val="bg1"/>
                </a:solidFill>
                <a:latin typeface="+mj-lt"/>
                <a:ea typeface="+mj-ea"/>
                <a:cs typeface="+mj-cs"/>
                <a:sym typeface="Plus Jakarta Sans"/>
              </a:rPr>
              <a:t> Monótona Randomizada vs. Primeira Melhora</a:t>
            </a:r>
            <a:endParaRPr lang="en-US" sz="4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464410" y="841247"/>
            <a:ext cx="4484536" cy="534009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R="0" lv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  <a:sym typeface="Plus Jakarta Sans"/>
              </a:rPr>
              <a:t>Alunos</a:t>
            </a:r>
            <a:r>
              <a: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Plus Jakarta Sans"/>
              </a:rPr>
              <a:t>: Hérick Vitor Vieira Bittencourt, Gustavo Gonçalves Trindade, Luiz Augusto </a:t>
            </a:r>
            <a:r>
              <a:rPr lang="en-US" sz="18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  <a:sym typeface="Plus Jakarta Sans"/>
              </a:rPr>
              <a:t>Inthurn</a:t>
            </a:r>
            <a:r>
              <a: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Plus Jakarta Sans"/>
              </a:rPr>
              <a:t>, Lorina Zondervan</a:t>
            </a:r>
            <a:endPara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97D679B-23E5-D5E1-8642-9EF9F7500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7" y="100383"/>
            <a:ext cx="80087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Contexto da Análise Comparativa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2624137"/>
            <a:ext cx="5334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estudo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duas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abordagens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clássicas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otimização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local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aplicadas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instâncias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diferentes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(de </a:t>
            </a:r>
            <a:r>
              <a:rPr lang="en-US" sz="1350" b="0" i="1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n=32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até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1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n=2500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itens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938587"/>
            <a:ext cx="5334000" cy="188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Principal: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Entender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comportamento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algorítmico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consumo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computacional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 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inserção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aleatoriedade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controlada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impactam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eficiência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 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qualidade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soluções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encontradas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dirty="0">
              <a:solidFill>
                <a:srgbClr val="334155"/>
              </a:solidFill>
              <a:latin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 err="1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Linguagem</a:t>
            </a:r>
            <a:r>
              <a:rPr lang="en-US" sz="1350" b="1" dirty="0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 </a:t>
            </a:r>
            <a:r>
              <a:rPr lang="en-US" sz="1350" b="1" dirty="0" err="1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Escolhida</a:t>
            </a:r>
            <a:r>
              <a:rPr lang="en-US" sz="1350" dirty="0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: C++</a:t>
            </a:r>
            <a:endParaRPr dirty="0"/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85962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A4D7F2F-CBD6-FDAB-BDDB-8483DA77F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2317" y="161924"/>
            <a:ext cx="80087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4575"/>
            <a:ext cx="352425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314575"/>
            <a:ext cx="352425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314575"/>
            <a:ext cx="3524250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Algoritmo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M2: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Busca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Local –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Primeira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Melhora</a:t>
            </a:r>
            <a:endParaRPr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3228975"/>
            <a:ext cx="308038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Busca</a:t>
            </a:r>
            <a:r>
              <a:rPr lang="en-US" sz="1650" b="1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50" b="1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pelo</a:t>
            </a:r>
            <a:r>
              <a:rPr lang="en-US" sz="1650" b="1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50" b="1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ponto</a:t>
            </a:r>
            <a:r>
              <a:rPr lang="en-US" sz="1650" b="1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50" b="1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ótimo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866775" y="3781425"/>
            <a:ext cx="29337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Transfere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tarefa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para 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vizinho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assim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uma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melhora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é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encontrada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conhecido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um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algoritmo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guloso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(greedy)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4629150" y="3228975"/>
            <a:ext cx="308038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Preciso</a:t>
            </a:r>
            <a:r>
              <a:rPr lang="en-US" sz="1650" b="1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mas </a:t>
            </a:r>
            <a:r>
              <a:rPr lang="en-US" sz="1650" b="1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caro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4629150" y="3781425"/>
            <a:ext cx="3080384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Após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encontrar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uma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melhora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reinicia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varredura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pela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vizinhança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aumentando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drásticamente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 tempo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instância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grandes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(n &gt; 2500)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8391525" y="3228975"/>
            <a:ext cx="308038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1E293B"/>
                </a:solidFill>
                <a:latin typeface="Plus Jakarta Sans"/>
                <a:cs typeface="Plus Jakarta Sans"/>
                <a:sym typeface="Plus Jakarta Sans"/>
              </a:rPr>
              <a:t>Sem </a:t>
            </a:r>
            <a:r>
              <a:rPr lang="en-US" sz="1650" b="1" dirty="0" err="1">
                <a:solidFill>
                  <a:srgbClr val="1E293B"/>
                </a:solidFill>
                <a:latin typeface="Plus Jakarta Sans"/>
                <a:cs typeface="Plus Jakarta Sans"/>
                <a:sym typeface="Plus Jakarta Sans"/>
              </a:rPr>
              <a:t>aleatoriedade</a:t>
            </a:r>
            <a:endParaRPr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8391525" y="3781425"/>
            <a:ext cx="29337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O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algoritmo</a:t>
            </a:r>
            <a:r>
              <a:rPr lang="en-US" sz="1350" dirty="0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 para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após</a:t>
            </a:r>
            <a:r>
              <a:rPr lang="en-US" sz="1350" dirty="0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não</a:t>
            </a:r>
            <a:r>
              <a:rPr lang="en-US" sz="1350" dirty="0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 encontrar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melhoras</a:t>
            </a:r>
            <a:r>
              <a:rPr lang="en-US" sz="1350" dirty="0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disponíveis</a:t>
            </a:r>
            <a:r>
              <a:rPr lang="en-US" sz="1350" dirty="0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,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parando</a:t>
            </a:r>
            <a:r>
              <a:rPr lang="en-US" sz="1350" dirty="0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em</a:t>
            </a:r>
            <a:r>
              <a:rPr lang="en-US" sz="1350" dirty="0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 um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ótimo</a:t>
            </a:r>
            <a:r>
              <a:rPr lang="en-US" sz="1350" dirty="0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ponto</a:t>
            </a:r>
            <a:r>
              <a:rPr lang="en-US" sz="1350" dirty="0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, mas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não</a:t>
            </a:r>
            <a:r>
              <a:rPr lang="en-US" sz="1350" dirty="0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necessariamente</a:t>
            </a:r>
            <a:r>
              <a:rPr lang="en-US" sz="1350" dirty="0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 o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cs typeface="Plus Jakarta Sans"/>
                <a:sym typeface="Plus Jakarta Sans"/>
              </a:rPr>
              <a:t>melhor</a:t>
            </a:r>
            <a:endParaRPr dirty="0"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6700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29150" y="2667000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91525" y="266700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ED25645-E03E-F893-B8A8-539AFF44E9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12317" y="161924"/>
            <a:ext cx="80087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>
          <a:extLst>
            <a:ext uri="{FF2B5EF4-FFF2-40B4-BE49-F238E27FC236}">
              <a16:creationId xmlns:a16="http://schemas.microsoft.com/office/drawing/2014/main" id="{2C1CCCCF-6750-E7CB-EC05-8DFB61A29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>
            <a:extLst>
              <a:ext uri="{FF2B5EF4-FFF2-40B4-BE49-F238E27FC236}">
                <a16:creationId xmlns:a16="http://schemas.microsoft.com/office/drawing/2014/main" id="{6E525D50-962C-5C0F-CAB3-232EE5428F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>
            <a:extLst>
              <a:ext uri="{FF2B5EF4-FFF2-40B4-BE49-F238E27FC236}">
                <a16:creationId xmlns:a16="http://schemas.microsoft.com/office/drawing/2014/main" id="{529B0275-1D4F-D1AC-6141-6B9941A9FEE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4575"/>
            <a:ext cx="352425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>
            <a:extLst>
              <a:ext uri="{FF2B5EF4-FFF2-40B4-BE49-F238E27FC236}">
                <a16:creationId xmlns:a16="http://schemas.microsoft.com/office/drawing/2014/main" id="{A5727BCD-766F-5A2D-8C57-C1808225AB8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314575"/>
            <a:ext cx="352425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>
            <a:extLst>
              <a:ext uri="{FF2B5EF4-FFF2-40B4-BE49-F238E27FC236}">
                <a16:creationId xmlns:a16="http://schemas.microsoft.com/office/drawing/2014/main" id="{40B0423E-6AC3-D7E4-00C2-3648F1E85B9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314575"/>
            <a:ext cx="3524250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E2915EC0-6488-35A8-08EB-1E4001885C89}"/>
              </a:ext>
            </a:extLst>
          </p:cNvPr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Algoritmo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M3: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Busca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Local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Monótona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Randomizada</a:t>
            </a:r>
            <a:endParaRPr dirty="0"/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BB7C92D2-65E8-C53E-11B3-587C5BF77295}"/>
              </a:ext>
            </a:extLst>
          </p:cNvPr>
          <p:cNvSpPr txBox="1"/>
          <p:nvPr/>
        </p:nvSpPr>
        <p:spPr>
          <a:xfrm>
            <a:off x="866775" y="3228975"/>
            <a:ext cx="30803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Aleatoriedade Controlada</a:t>
            </a:r>
            <a:endParaRPr/>
          </a:p>
        </p:txBody>
      </p:sp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93C80B5C-24C1-73F1-80B3-97C34651A26C}"/>
              </a:ext>
            </a:extLst>
          </p:cNvPr>
          <p:cNvSpPr txBox="1"/>
          <p:nvPr/>
        </p:nvSpPr>
        <p:spPr>
          <a:xfrm>
            <a:off x="866775" y="3781425"/>
            <a:ext cx="2933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Usa um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parâmetro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alfa (ex: 0,1) para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introduzir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variação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escolhas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transição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permitindo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escapar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ótimos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locais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estagnados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3FB2C4D8-F023-5A0B-C863-EC37386A8846}"/>
              </a:ext>
            </a:extLst>
          </p:cNvPr>
          <p:cNvSpPr txBox="1"/>
          <p:nvPr/>
        </p:nvSpPr>
        <p:spPr>
          <a:xfrm>
            <a:off x="4629150" y="3228975"/>
            <a:ext cx="30803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Convergência Rápida</a:t>
            </a:r>
            <a:endParaRPr/>
          </a:p>
        </p:txBody>
      </p:sp>
      <p:sp>
        <p:nvSpPr>
          <p:cNvPr id="108" name="Google Shape;108;p15">
            <a:extLst>
              <a:ext uri="{FF2B5EF4-FFF2-40B4-BE49-F238E27FC236}">
                <a16:creationId xmlns:a16="http://schemas.microsoft.com/office/drawing/2014/main" id="{3B0CC654-87E2-D72C-DA2E-9E321CBD6DA3}"/>
              </a:ext>
            </a:extLst>
          </p:cNvPr>
          <p:cNvSpPr txBox="1"/>
          <p:nvPr/>
        </p:nvSpPr>
        <p:spPr>
          <a:xfrm>
            <a:off x="4629150" y="3781425"/>
            <a:ext cx="29337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Avança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forma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ágil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para boas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regiões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espaço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busca</a:t>
            </a:r>
            <a:r>
              <a:rPr lang="en-US" sz="1350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até</a:t>
            </a:r>
            <a:r>
              <a:rPr lang="en-US" sz="1350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passar</a:t>
            </a:r>
            <a:r>
              <a:rPr lang="en-US" sz="1350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</a:t>
            </a:r>
            <a:r>
              <a:rPr lang="en-US" sz="1350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1000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iterações</a:t>
            </a:r>
            <a:r>
              <a:rPr lang="en-US" sz="1350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</a:t>
            </a:r>
            <a:r>
              <a:rPr lang="en-US" sz="1350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melhora</a:t>
            </a:r>
            <a:r>
              <a:rPr lang="en-US" sz="1350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incentivado</a:t>
            </a:r>
            <a:r>
              <a:rPr lang="en-US" sz="1350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</a:t>
            </a:r>
            <a:r>
              <a:rPr lang="en-US" sz="1350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explorar</a:t>
            </a:r>
            <a:r>
              <a:rPr lang="en-US" sz="1350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109" name="Google Shape;109;p15">
            <a:extLst>
              <a:ext uri="{FF2B5EF4-FFF2-40B4-BE49-F238E27FC236}">
                <a16:creationId xmlns:a16="http://schemas.microsoft.com/office/drawing/2014/main" id="{01F911DA-DEBC-96E9-13A5-B1F6248E738A}"/>
              </a:ext>
            </a:extLst>
          </p:cNvPr>
          <p:cNvSpPr txBox="1"/>
          <p:nvPr/>
        </p:nvSpPr>
        <p:spPr>
          <a:xfrm>
            <a:off x="8391525" y="3228975"/>
            <a:ext cx="30803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Parâmetro Ótimo (0,1)</a:t>
            </a:r>
            <a:endParaRPr/>
          </a:p>
        </p:txBody>
      </p:sp>
      <p:sp>
        <p:nvSpPr>
          <p:cNvPr id="110" name="Google Shape;110;p15">
            <a:extLst>
              <a:ext uri="{FF2B5EF4-FFF2-40B4-BE49-F238E27FC236}">
                <a16:creationId xmlns:a16="http://schemas.microsoft.com/office/drawing/2014/main" id="{29CDA746-285B-E703-7A5A-ACC78433D1BB}"/>
              </a:ext>
            </a:extLst>
          </p:cNvPr>
          <p:cNvSpPr txBox="1"/>
          <p:nvPr/>
        </p:nvSpPr>
        <p:spPr>
          <a:xfrm>
            <a:off x="8391525" y="3781425"/>
            <a:ext cx="2933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Valores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baixos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mantêm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um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comportamento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"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guloso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garantindo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precisão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superior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frente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parâmetros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altos.</a:t>
            </a:r>
            <a:endParaRPr dirty="0"/>
          </a:p>
        </p:txBody>
      </p:sp>
      <p:pic>
        <p:nvPicPr>
          <p:cNvPr id="111" name="Google Shape;111;p15" descr="image.png">
            <a:extLst>
              <a:ext uri="{FF2B5EF4-FFF2-40B4-BE49-F238E27FC236}">
                <a16:creationId xmlns:a16="http://schemas.microsoft.com/office/drawing/2014/main" id="{0E8AF59A-AA84-986A-3C82-1F97C68C94E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6700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>
            <a:extLst>
              <a:ext uri="{FF2B5EF4-FFF2-40B4-BE49-F238E27FC236}">
                <a16:creationId xmlns:a16="http://schemas.microsoft.com/office/drawing/2014/main" id="{92720EEC-21C6-0738-716D-2BB90A6BA29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29150" y="2667000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9F130815-6D13-8C45-0977-EA1887FC7CF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91525" y="266700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57F5C33-7138-B064-DB37-8D2360CC80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12317" y="161924"/>
            <a:ext cx="800878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9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09675"/>
            <a:ext cx="5334000" cy="51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209675"/>
            <a:ext cx="5334000" cy="517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Desempenho: Iterações e Tempo de Execução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14400" y="1409700"/>
            <a:ext cx="488061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Volume de </a:t>
            </a:r>
            <a:r>
              <a:rPr lang="en-US" sz="1404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Iterações</a:t>
            </a:r>
            <a:endParaRPr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914400" y="2000250"/>
            <a:ext cx="4648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Primeira Melhora: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~53.257 iterações em média (chegando a 250.000 na instância máxima).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14400" y="2857500"/>
            <a:ext cx="4648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Monótona Randomizada: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~1.943 iterações em média.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14400" y="342900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Primeira Melhora realiza quase </a:t>
            </a:r>
            <a:r>
              <a:rPr lang="en-US" sz="1200" b="1" i="1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27 vezes mais</a:t>
            </a:r>
            <a:r>
              <a:rPr lang="en-US" sz="1200" b="0" i="1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iterações devido aos passos incrementais pequenos.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629400" y="1409700"/>
            <a:ext cx="488061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</a:t>
            </a:r>
            <a:r>
              <a:rPr lang="en-US" sz="1404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404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Computacional</a:t>
            </a:r>
            <a:r>
              <a:rPr lang="en-US" sz="1404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(Tempo)</a:t>
            </a:r>
            <a:endParaRPr dirty="0"/>
          </a:p>
        </p:txBody>
      </p:sp>
      <p:sp>
        <p:nvSpPr>
          <p:cNvPr id="127" name="Google Shape;127;p16"/>
          <p:cNvSpPr txBox="1"/>
          <p:nvPr/>
        </p:nvSpPr>
        <p:spPr>
          <a:xfrm>
            <a:off x="6629400" y="2000250"/>
            <a:ext cx="4648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Primeira Melhora: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9,68 segundos em média (até 47,2s na maior instância).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629400" y="2857500"/>
            <a:ext cx="4648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Monótona Randomizada: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0,35 segundos em média.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629400" y="342900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custo da Primeira Melhora escala de forma desproporcional em problemas grandes.</a:t>
            </a:r>
            <a:endParaRPr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1425294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1434852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BD841FE-5D9B-018B-0C37-C209AC7978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3687" y="4136308"/>
            <a:ext cx="4259625" cy="22454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4A6E82C-A7F0-A37A-48B8-7A3081C2E2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433" y="4136308"/>
            <a:ext cx="4338133" cy="224544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DB8C986-93F5-50B5-4750-2E552518D5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12317" y="161924"/>
            <a:ext cx="80087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09675"/>
            <a:ext cx="11049000" cy="1215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33650"/>
            <a:ext cx="5219698" cy="1567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62700" y="2533650"/>
            <a:ext cx="5257798" cy="157799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Qualidade das Soluções Encontradas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19151" y="1317811"/>
            <a:ext cx="1098137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Veredito</a:t>
            </a:r>
            <a:r>
              <a:rPr lang="en-US" sz="1800" b="1" i="0" u="none" strike="noStrike" cap="none" dirty="0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</a:t>
            </a:r>
            <a:r>
              <a:rPr lang="en-US" sz="1800" b="1" i="0" u="none" strike="noStrike" cap="none" dirty="0" err="1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Depende</a:t>
            </a:r>
            <a:r>
              <a:rPr lang="en-US" sz="1800" b="1" i="0" u="none" strike="noStrike" cap="none" dirty="0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 Escala do </a:t>
            </a:r>
            <a:r>
              <a:rPr lang="en-US" sz="1800" b="1" i="0" u="none" strike="noStrike" cap="none" dirty="0" err="1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Problema</a:t>
            </a:r>
            <a:endParaRPr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819151" y="1775011"/>
            <a:ext cx="10458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média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global, ambas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empatam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tecnicamente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(~976 vs ~979), mas 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comportamento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diverge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conforme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tamanho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instância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endParaRPr dirty="0"/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0562" y="1346386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819150" y="2781300"/>
            <a:ext cx="4354829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Instâncias</a:t>
            </a:r>
            <a:r>
              <a:rPr lang="en-US" sz="1404" b="1" i="0" u="none" strike="noStrike" cap="none" dirty="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404" b="1" i="0" u="none" strike="noStrike" cap="none" dirty="0" err="1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Pequenas</a:t>
            </a:r>
            <a:r>
              <a:rPr lang="en-US" sz="1404" b="1" i="0" u="none" strike="noStrike" cap="none" dirty="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(n=32, 100)</a:t>
            </a:r>
            <a:endParaRPr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819150" y="3171825"/>
            <a:ext cx="47625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</a:t>
            </a:r>
            <a:r>
              <a:rPr lang="en-US" sz="110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Primeira</a:t>
            </a:r>
            <a:r>
              <a:rPr lang="en-US" sz="110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Melhora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sobressai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-se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ligeiramente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pois a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busca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exaustiva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consegue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varrer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espaço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confinado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precisão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100"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6606732" y="2781301"/>
            <a:ext cx="500805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Instâncias Médias e Grandes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603274" y="3171825"/>
            <a:ext cx="4769574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</a:t>
            </a:r>
            <a:r>
              <a:rPr lang="en-US" sz="110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Monótona</a:t>
            </a:r>
            <a:r>
              <a:rPr lang="en-US" sz="110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Randomizada</a:t>
            </a:r>
            <a:r>
              <a:rPr lang="en-US" sz="110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(com </a:t>
            </a:r>
            <a:r>
              <a:rPr lang="en-US" sz="110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parâmetro</a:t>
            </a:r>
            <a:r>
              <a:rPr lang="en-US" sz="110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0,1)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supera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concorrente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escapando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armadilhas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locais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onde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outra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estagna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1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B2FE92-7C32-E408-49F1-EB0744066D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9527" y="4164157"/>
            <a:ext cx="5612946" cy="262043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9EA3AEF-6F21-CE78-66F6-9C8E2CB75A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12317" y="161924"/>
            <a:ext cx="80087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Impacto do Parâmetro na Qualidade e Velocidade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57250" y="123348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Parâmetro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0,1: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melhor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todas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as 6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instâncias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testadas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Garante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comportamento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guloso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preciso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157" name="Google Shape;157;p18"/>
          <p:cNvSpPr txBox="1"/>
          <p:nvPr/>
        </p:nvSpPr>
        <p:spPr>
          <a:xfrm>
            <a:off x="857250" y="191928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Parâmetros Altos (0,8 - 0,9):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Tornam as escolhas quase aleatórias, perdendo direção e piorando a qualidade final.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57250" y="260508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Velocidade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 tempo de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execução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é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ditado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pelo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tamanho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(n, m),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variando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pouco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entre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parâmetros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pic>
        <p:nvPicPr>
          <p:cNvPr id="171" name="Google Shape;17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668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26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384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6D63A24-BFAF-DF0F-368C-3A8CC51AF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755" y="3619305"/>
            <a:ext cx="10850489" cy="281026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8E1D746-8755-533F-FA10-C02B3FAD3D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2317" y="161924"/>
            <a:ext cx="80087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D771854-7873-AF28-6F2E-727246AE20E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52902" cy="6858000"/>
          </a:xfrm>
          <a:prstGeom prst="rect">
            <a:avLst/>
          </a:prstGeom>
        </p:spPr>
      </p:pic>
      <p:sp>
        <p:nvSpPr>
          <p:cNvPr id="179" name="Google Shape;179;p19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Ambiente</a:t>
            </a:r>
            <a:r>
              <a:rPr lang="en-US" sz="285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Testes</a:t>
            </a:r>
            <a:endParaRPr dirty="0">
              <a:solidFill>
                <a:schemeClr val="bg1"/>
              </a:solidFill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3DC4150-4AB7-834E-5042-6EFABF4FE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394838"/>
              </p:ext>
            </p:extLst>
          </p:nvPr>
        </p:nvGraphicFramePr>
        <p:xfrm>
          <a:off x="571500" y="1400175"/>
          <a:ext cx="8229600" cy="43891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8427858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6304613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Propriedade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Valor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291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Data/hora atual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sexta-feira, 31 de julho de 2026, 11:42:12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9098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Nome do computador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DESKTOP-2TD5MGE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43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Sistema operacional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Windows 11 </a:t>
                      </a:r>
                      <a:r>
                        <a:rPr lang="pt-BR" dirty="0" err="1"/>
                        <a:t>Education</a:t>
                      </a:r>
                      <a:r>
                        <a:rPr lang="pt-BR" dirty="0"/>
                        <a:t> 64 bits (10.0, Compilação 26200)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837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Idioma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português (Configuração regional: português)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7170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Fabricante do sistema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ASUS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067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Modelo do sistema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System </a:t>
                      </a:r>
                      <a:r>
                        <a:rPr lang="pt-BR" dirty="0" err="1"/>
                        <a:t>Product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Name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1907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BIOS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3067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5731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Processador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AMD </a:t>
                      </a:r>
                      <a:r>
                        <a:rPr lang="pt-BR" dirty="0" err="1"/>
                        <a:t>Ryzen</a:t>
                      </a:r>
                      <a:r>
                        <a:rPr lang="pt-BR" dirty="0"/>
                        <a:t> 5 8600G w/ Radeon 760M </a:t>
                      </a:r>
                      <a:r>
                        <a:rPr lang="pt-BR" dirty="0" err="1"/>
                        <a:t>Graphics</a:t>
                      </a:r>
                      <a:r>
                        <a:rPr lang="pt-BR" dirty="0"/>
                        <a:t> (12 CPUs), ~4.4GHz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4872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Memória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32GB 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34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Arquivo de paginação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22348MB usados, 6493MB disponíveis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107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Versão do DirectX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DirectX 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358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Verificar assinaturas digitais do WHQL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Ativado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2231055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D88D8C61-AD06-DE1E-DB44-5E416CA49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2317" y="161924"/>
            <a:ext cx="80087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Resumo Executivo dos Resultados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571500" y="1862137"/>
            <a:ext cx="11049000" cy="38671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20"/>
          <p:cNvGraphicFramePr/>
          <p:nvPr>
            <p:extLst>
              <p:ext uri="{D42A27DB-BD31-4B8C-83A1-F6EECF244321}">
                <p14:modId xmlns:p14="http://schemas.microsoft.com/office/powerpoint/2010/main" val="3094767931"/>
              </p:ext>
            </p:extLst>
          </p:nvPr>
        </p:nvGraphicFramePr>
        <p:xfrm>
          <a:off x="571500" y="1862137"/>
          <a:ext cx="11039475" cy="3867125"/>
        </p:xfrm>
        <a:graphic>
          <a:graphicData uri="http://schemas.openxmlformats.org/drawingml/2006/table">
            <a:tbl>
              <a:tblPr firstRow="1" bandRow="1">
                <a:noFill/>
                <a:tableStyleId>{BD0F6CC3-7518-4725-9EB3-1B94E22CEB52}</a:tableStyleId>
              </a:tblPr>
              <a:tblGrid>
                <a:gridCol w="18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Métrica Analisada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Heurística / Configuração Destaque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Observação Principal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Mais Iterações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Primeira Melhora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Quase 27x mais iterações devido a passos incrementais curtos.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Maior Tempo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Primeira Melhora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Custo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computacional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cresce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drasticamente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em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instâncias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grandes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Maior Qualidade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Depende da Escala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Primeira Melhora (pequenas) vs. Monótona Randomizada p=0,1 (grandes).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Melhor Parâmetro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Parâmetro 0,1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Equilíbrado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entre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gulosidade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e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diversificação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4" name="Google Shape;194;p20"/>
          <p:cNvSpPr/>
          <p:nvPr/>
        </p:nvSpPr>
        <p:spPr>
          <a:xfrm>
            <a:off x="576262" y="2657475"/>
            <a:ext cx="18526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2428875" y="2657475"/>
            <a:ext cx="30927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521672" y="2657475"/>
            <a:ext cx="6094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76262" y="3228975"/>
            <a:ext cx="18526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2428875" y="3228975"/>
            <a:ext cx="30927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521672" y="3228975"/>
            <a:ext cx="6094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76262" y="4057650"/>
            <a:ext cx="18526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2428875" y="4057650"/>
            <a:ext cx="30927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521672" y="4057650"/>
            <a:ext cx="6094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576262" y="4886325"/>
            <a:ext cx="18526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2428875" y="4886325"/>
            <a:ext cx="30927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5521672" y="4886325"/>
            <a:ext cx="6094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5CDB835-51BC-54A6-C3C2-E19D08E4F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2317" y="161924"/>
            <a:ext cx="80087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945B80A-B052-3767-A00E-F0176BE8F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42" y="1066650"/>
            <a:ext cx="9725730" cy="2226769"/>
          </a:xfrm>
        </p:spPr>
        <p:txBody>
          <a:bodyPr anchor="ctr">
            <a:normAutofit/>
          </a:bodyPr>
          <a:lstStyle/>
          <a:p>
            <a:pPr algn="l"/>
            <a:r>
              <a:rPr lang="pt-BR" sz="7200" dirty="0">
                <a:solidFill>
                  <a:schemeClr val="bg1"/>
                </a:solidFill>
              </a:rPr>
              <a:t>Obrigado!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B7747E4-20E3-C7E3-157E-F4A48112D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42" y="140108"/>
            <a:ext cx="800878" cy="5715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B496C7E-7957-8E30-0540-3F8ABAE01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732" y="375808"/>
            <a:ext cx="6507118" cy="636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00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664</Words>
  <Application>Microsoft Office PowerPoint</Application>
  <PresentationFormat>Widescreen</PresentationFormat>
  <Paragraphs>85</Paragraphs>
  <Slides>10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Calibri</vt:lpstr>
      <vt:lpstr>Arial</vt:lpstr>
      <vt:lpstr>Plus Jakarta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Herick Vitor Vieira Bittencourt</cp:lastModifiedBy>
  <cp:revision>2</cp:revision>
  <dcterms:modified xsi:type="dcterms:W3CDTF">2026-07-31T22:35:17Z</dcterms:modified>
</cp:coreProperties>
</file>